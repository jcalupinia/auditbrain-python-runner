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USD</c:v>
                </c:pt>
              </c:strCache>
            </c:strRef>
          </c:tx>
          <c:spPr>
            <a:solidFill>
              <a:srgbClr val="0093A3"/>
            </a:solidFill>
          </c:spPr>
          <c:invertIfNegative val="0"/>
          <c:cat>
            <c:strRef>
              <c:f>Sheet1!$A$2:$A$11</c:f>
              <c:strCache>
                <c:ptCount val="10"/>
                <c:pt idx="0">
                  <c:v>Efectivo y equivalentes según libros</c:v>
                </c:pt>
                <c:pt idx="1">
                  <c:v>Notas bancarias no registradas (crédito…</c:v>
                </c:pt>
                <c:pt idx="2">
                  <c:v>Reclasificación a no corriente (restric…</c:v>
                </c:pt>
                <c:pt idx="3">
                  <c:v>Reclasificación de inversiones que no s…</c:v>
                </c:pt>
                <c:pt idx="4">
                  <c:v>Efectivo y equivalentes auditado</c:v>
                </c:pt>
                <c:pt idx="5">
                  <c:v>Ajuste propuesto (auditado − libros)</c:v>
                </c:pt>
                <c:pt idx="6">
                  <c:v>Diferencias de conciliación no explicad…</c:v>
                </c:pt>
                <c:pt idx="7">
                  <c:v>Diferencias de confirmación (absolutas)</c:v>
                </c:pt>
                <c:pt idx="8">
                  <c:v>Partidas conciliatorias antiguas</c:v>
                </c:pt>
                <c:pt idx="9">
                  <c:v>Partidas no depuradas después del corte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274630.5</c:v>
                </c:pt>
                <c:pt idx="1">
                  <c:v>180.0</c:v>
                </c:pt>
                <c:pt idx="2">
                  <c:v>10000.0</c:v>
                </c:pt>
                <c:pt idx="3">
                  <c:v>30000.0</c:v>
                </c:pt>
                <c:pt idx="4">
                  <c:v>234810.5</c:v>
                </c:pt>
                <c:pt idx="5">
                  <c:v>-39820.0</c:v>
                </c:pt>
                <c:pt idx="6">
                  <c:v>550.0</c:v>
                </c:pt>
                <c:pt idx="7">
                  <c:v>500.0</c:v>
                </c:pt>
                <c:pt idx="8">
                  <c:v>2300.0</c:v>
                </c:pt>
                <c:pt idx="9">
                  <c:v>2300.0</c:v>
                </c:pt>
              </c:numCache>
            </c:numRef>
          </c:val>
        </c:ser>
        <c:dLbls>
          <c:numFmt formatCode="#,##0.00" sourceLinked="0"/>
          <c:txPr>
            <a:bodyPr/>
            <a:lstStyle/>
            <a:p>
              <a:pPr>
                <a:defRPr sz="1000">
                  <a:solidFill>
                    <a:srgbClr val="4B5563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out"/>
        <c:minorTickMark val="none"/>
        <c:tickLblPos val="low"/>
        <c:txPr>
          <a:bodyPr/>
          <a:lstStyle/>
          <a:p>
            <a:pPr>
              <a:defRPr>
                <a:solidFill>
                  <a:srgbClr val="0A2342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0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USD</c:v>
                </c:pt>
              </c:strCache>
            </c:strRef>
          </c:tx>
          <c:spPr>
            <a:solidFill>
              <a:srgbClr val="0093A3"/>
            </a:solidFill>
          </c:spPr>
          <c:invertIfNegative val="0"/>
          <c:cat>
            <c:strRef>
              <c:f>Sheet1!$A$2:$A$9</c:f>
              <c:strCache>
                <c:ptCount val="8"/>
                <c:pt idx="0">
                  <c:v>Equivalente presuncion</c:v>
                </c:pt>
                <c:pt idx="1">
                  <c:v>No es equivalente</c:v>
                </c:pt>
                <c:pt idx="2">
                  <c:v>Restringido revelar (×2)</c:v>
                </c:pt>
                <c:pt idx="3">
                  <c:v>Restringido como disponible</c:v>
                </c:pt>
                <c:pt idx="4">
                  <c:v>Saldo acreedor</c:v>
                </c:pt>
                <c:pt idx="5">
                  <c:v>Partida antigua (×2)</c:v>
                </c:pt>
                <c:pt idx="6">
                  <c:v>Partida no depurada (×2)</c:v>
                </c:pt>
                <c:pt idx="7">
                  <c:v>Otros (7 tipos)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50000.0</c:v>
                </c:pt>
                <c:pt idx="1">
                  <c:v>30000.0</c:v>
                </c:pt>
                <c:pt idx="2">
                  <c:v>11650.0</c:v>
                </c:pt>
                <c:pt idx="3">
                  <c:v>10000.0</c:v>
                </c:pt>
                <c:pt idx="4">
                  <c:v>3200.0</c:v>
                </c:pt>
                <c:pt idx="5">
                  <c:v>2300.0</c:v>
                </c:pt>
                <c:pt idx="6">
                  <c:v>2300.0</c:v>
                </c:pt>
                <c:pt idx="7">
                  <c:v>7180.0</c:v>
                </c:pt>
              </c:numCache>
            </c:numRef>
          </c:val>
        </c:ser>
        <c:dLbls>
          <c:numFmt formatCode="#,##0.00" sourceLinked="0"/>
          <c:txPr>
            <a:bodyPr/>
            <a:lstStyle/>
            <a:p>
              <a:pPr>
                <a:defRPr sz="1000">
                  <a:solidFill>
                    <a:srgbClr val="4B5563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out"/>
        <c:minorTickMark val="none"/>
        <c:tickLblPos val="low"/>
        <c:txPr>
          <a:bodyPr/>
          <a:lstStyle/>
          <a:p>
            <a:pPr>
              <a:defRPr>
                <a:solidFill>
                  <a:srgbClr val="0A2342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0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>
                <a:solidFill>
                  <a:srgbClr val="0A2342"/>
                </a:solidFill>
              </a:rPr>
              <a:t>Efectivo y equivalentes de efectivo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Cliente de muestra S.A. · corte 2025-12-31 · v1 · MUESTRA</a:t>
            </a:r>
          </a:p>
          <a:p>
            <a:r>
              <a:t>AuditConsulting Auditores Cía. Ltda. · AUDIT-IA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0A2342"/>
                </a:solidFill>
              </a:rPr>
              <a:t>Cifras clave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0A2342"/>
                </a:solidFill>
              </a:rPr>
              <a:t>Ajuste propuesto (auditado − libros):  -39820.00</a:t>
            </a:r>
          </a:p>
          <a:p>
            <a:r>
              <a:rPr sz="2000">
                <a:solidFill>
                  <a:srgbClr val="0A2342"/>
                </a:solidFill>
              </a:rPr>
              <a:t>Problemas encontrados:  17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600">
                <a:solidFill>
                  <a:srgbClr val="0A2342"/>
                </a:solidFill>
              </a:rPr>
              <a:t>Cifras del resumen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457200" y="1234440"/>
          <a:ext cx="11247120" cy="51206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6355080"/>
            <a:ext cx="11247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4B5563"/>
                </a:solidFill>
              </a:rPr>
              <a:t>Importes en USD, en el orden de la cédula de resumen. La tabla equivalente es la hoja «Resumen».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600">
                <a:solidFill>
                  <a:srgbClr val="0A2342"/>
                </a:solidFill>
              </a:rPr>
              <a:t>Hallazgos de mayor impacto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457200" y="1234440"/>
          <a:ext cx="11247120" cy="51206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6355080"/>
            <a:ext cx="11247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4B5563"/>
                </a:solidFill>
              </a:rPr>
              <a:t>Importe absoluto sumado por tipo de hallazgo; los 7 mayores y el resto en «Otros». El detalle está en la hoja «Problemas encontrados».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Resumen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65760" y="1280160"/>
          <a:ext cx="11430000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15000"/>
                <a:gridCol w="5715000"/>
              </a:tblGrid>
              <a:tr h="274320">
                <a:tc>
                  <a:txBody>
                    <a:bodyPr/>
                    <a:lstStyle/>
                    <a:p>
                      <a:r>
                        <a:rPr sz="1000"/>
                        <a:t>Concepto</a:t>
                      </a:r>
                    </a:p>
                  </a:txBody>
                  <a:tcPr>
                    <a:solidFill>
                      <a:srgbClr val="0A234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/>
                        <a:t>Importe</a:t>
                      </a:r>
                    </a:p>
                  </a:txBody>
                  <a:tcPr>
                    <a:solidFill>
                      <a:srgbClr val="0A2342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/>
                        <a:t>Efectivo y equivalentes según libros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274.630,50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/>
                        <a:t>Notas bancarias no registradas (crédito − débito)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180,00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/>
                        <a:t>Reclasificación a no corriente (restricción ≥ 12 meses)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10.000,00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/>
                        <a:t>Reclasificación de inversiones que no son equivalentes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30.000,00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/>
                        <a:t>Efectivo y equivalentes auditado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234.810,50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/>
                        <a:t>Ajuste propuesto (auditado − libros)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-39.820,00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/>
                        <a:t>Diferencias de conciliación no explicadas (absolutas)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550,00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/>
                        <a:t>Diferencias de confirmación (absolutas)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500,00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/>
                        <a:t>Partidas conciliatorias antiguas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2.300,00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/>
                        <a:t>Partidas no depuradas después del corte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2.300,00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Asientos propuestos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65760" y="1280160"/>
          <a:ext cx="11430000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57500"/>
                <a:gridCol w="2857500"/>
                <a:gridCol w="2857500"/>
                <a:gridCol w="2857500"/>
              </a:tblGrid>
              <a:tr h="274320">
                <a:tc>
                  <a:txBody>
                    <a:bodyPr/>
                    <a:lstStyle/>
                    <a:p>
                      <a:r>
                        <a:rPr sz="1000"/>
                        <a:t>Asiento</a:t>
                      </a:r>
                    </a:p>
                  </a:txBody>
                  <a:tcPr>
                    <a:solidFill>
                      <a:srgbClr val="0A234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/>
                        <a:t>Cuenta</a:t>
                      </a:r>
                    </a:p>
                  </a:txBody>
                  <a:tcPr>
                    <a:solidFill>
                      <a:srgbClr val="0A234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/>
                        <a:t>Debe</a:t>
                      </a:r>
                    </a:p>
                  </a:txBody>
                  <a:tcPr>
                    <a:solidFill>
                      <a:srgbClr val="0A234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/>
                        <a:t>Haber</a:t>
                      </a:r>
                    </a:p>
                  </a:txBody>
                  <a:tcPr>
                    <a:solidFill>
                      <a:srgbClr val="0A2342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/>
                        <a:t>1 · Notas de crédito del banco no registradas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Bancos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300,00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Otros ingresos (identificar la cuenta con el soporte)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300,00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/>
                        <a:t>2 · Notas de débito del banco no registradas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Gastos bancarios (identificar la cuenta con el soporte)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120,00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Bancos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120,00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/>
                        <a:t>3 · Reclasificación del efectivo restringido a no corriente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Efectivo restringido — activo no corriente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10.000,00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Efectivo y equivalentes de efectivo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10.000,00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/>
                        <a:t>4 · Reclasificación de inversiones que no son equivalentes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Inversiones a plazo (activos financieros a costo amortizado)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30.000,00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Efectivo y equivalentes de efectivo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30.000,00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Problemas encontrados (primeras filas; el detalle completo está en el Excel)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65760" y="1280160"/>
          <a:ext cx="11430000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10000"/>
                <a:gridCol w="3810000"/>
                <a:gridCol w="3810000"/>
              </a:tblGrid>
              <a:tr h="274320">
                <a:tc>
                  <a:txBody>
                    <a:bodyPr/>
                    <a:lstStyle/>
                    <a:p>
                      <a:r>
                        <a:rPr sz="1000"/>
                        <a:t>Código</a:t>
                      </a:r>
                    </a:p>
                  </a:txBody>
                  <a:tcPr>
                    <a:solidFill>
                      <a:srgbClr val="0A234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/>
                        <a:t>Descripción</a:t>
                      </a:r>
                    </a:p>
                  </a:txBody>
                  <a:tcPr>
                    <a:solidFill>
                      <a:srgbClr val="0A234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/>
                        <a:t>Importe</a:t>
                      </a:r>
                    </a:p>
                  </a:txBody>
                  <a:tcPr>
                    <a:solidFill>
                      <a:srgbClr val="0A2342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/>
                        <a:t>DIFERENCIA_NO_EXPLICADA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1.1.02.02 Banco Guayaquil Aho. ***7788: los libros (47.700,00) difieren en 550,00 del saldo que explica la conciliación (47.150,00). Investigue y evalúe como incorrección (NIA 450).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550,00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/>
                        <a:t>RESTRINGIDO_REVELAR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1.1.02.02 Banco Guayaquil Aho. ***7788: 10.000,00 restringidos (Garantía de préstamo (pignoración)). La restricción no los saca del efectivo y equivalentes, pero debe revelarse el importe no disponible junto con un comentario de la gerencia (NIC 7.48).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10.000,00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/>
                        <a:t>RESTRINGIDO_COMO_DISPONIBLE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1.1.02.02 Banco Guayaquil Aho. ***7788: 10.000,00 restringidos por al menos 12 meses (hasta el 2027-06-30) presentados como efectivo disponible. Reclasificar a no corriente y revelar (NIC 7.48 y NIC 1.66 d)).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10.000,00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/>
                        <a:t>CONFIRMACION_NO_COINCIDE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1.1.02.03 Produbanco Cte. ***3390: el banco confirma 21.500,00 y el estado bancario muestra 22.000,00. Obtenga explicación del banco y del cliente (NIA 505 párr. 14).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-500,00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/>
                        <a:t>SIN_CONFIRMACION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1.1.02.04 Banco Internacional Cte. ***1102: sin respuesta del banco; aplique procedimientos alternativos (NIA 505).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1.650,00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/>
                        <a:t>RESTRINGIDO_REVELAR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1.1.02.04 Banco Internacional Cte. ***1102: 1.650,00 restringidos (Embargo judicial). La restricción no los saca del efectivo y equivalentes, pero debe revelarse el importe no disponible junto con un comentario de la gerencia (NIC 7.48).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1.650,00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/>
                        <a:t>RESTRICCION_SIN_FECHA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1.1.02.04 Banco Internacional Cte. ***1102: restricción sin fecha de fin; indique hasta cuándo dura para decidir si es corriente o no corriente (NIC 7.48 y NIC 1.66 d)). Mientras tanto no se reclasifica nada.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1.650,00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/>
                        <a:t>SALDO_ACREEDOR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1.1.02.05 Banco Bolivariano Cte. ***5566: saldo acreedor (sobregiro). Solo integra el efectivo si es exigible a la vista y parte integrante de la gestión del efectivo (NIC 7.8); si no, presentarlo como pasivo financiero.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-3.200,00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/>
                        <a:t>EQUIVALENTE_PRESUNCION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1.1.03.01 Póliza de acumulación Pichincha 60 días: vence dentro de los 3 meses desde la adquisición, lo que es solo una presunción. La definición exige además que sea de gran liquidez, fácilmente convertible en importes determinados de efectivo y sujeto a un riesgo poco significativo de cambios de valor (NIC 7.6–7.7): documéntelo.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50.000,00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/>
                        <a:t>NO_ES_EQUIVALENTE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1.1.03.02 Certificado de depósito Produbanco 180 días: vence el 2026-03-30, después de los 3 meses desde la adquisición (hasta el 2026-01-01); no es equivalente de efectivo (NIC 7.6–7.7). Reclasificar a inversiones.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30.000,00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/>
                        <a:t>NOTAS_NO_REGISTRADAS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Notas bancarias no registradas en libros: crédito 300,00 y débito 120,00. Ajustar los libros.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180,00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/>
                        <a:t>PARTIDA_ANTIGUA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P-03 (Cheque pendiente, cuenta 1.1.02.01): 138 días al corte (más de 90). Evalúe su reverso o ajuste.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1.850,00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/>
                        <a:t>PARTIDA_NO_DEPURADA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P-03 (Cheque pendiente, cuenta 1.1.02.01): sin liquidación posterior al corte; obtenga soporte de su existencia.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1.850,00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Conclusión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65760" y="1280160"/>
          <a:ext cx="1143000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15000"/>
                <a:gridCol w="5715000"/>
              </a:tblGrid>
              <a:tr h="274320">
                <a:tc>
                  <a:txBody>
                    <a:bodyPr/>
                    <a:lstStyle/>
                    <a:p>
                      <a:r>
                        <a:rPr sz="1000"/>
                        <a:t>Concepto</a:t>
                      </a:r>
                    </a:p>
                  </a:txBody>
                  <a:tcPr>
                    <a:solidFill>
                      <a:srgbClr val="0A234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/>
                        <a:t>Detalle</a:t>
                      </a:r>
                    </a:p>
                  </a:txBody>
                  <a:tcPr>
                    <a:solidFill>
                      <a:srgbClr val="0A2342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/>
                        <a:t>Conciliación con el mayor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Población None · mayor None · diferencia None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/>
                        <a:t>Evaluación de excepciones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/>
                        <a:t>Análisis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/>
                        <a:t>Conclusión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