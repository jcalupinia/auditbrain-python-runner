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Sheet1!$A$2:$A$14</c:f>
              <c:strCache>
                <c:ptCount val="13"/>
                <c:pt idx="0">
                  <c:v>Valor de referencia de los activos</c:v>
                </c:pt>
                <c:pt idx="1">
                  <c:v>Suma asegurada vigente al corte</c:v>
                </c:pt>
                <c:pt idx="2">
                  <c:v>Déficit de cobertura (exposición no ase…</c:v>
                </c:pt>
                <c:pt idx="3">
                  <c:v>Activos sin cobertura: valor en libros</c:v>
                </c:pt>
                <c:pt idx="4">
                  <c:v>Activos sin cobertura: valor de referen…</c:v>
                </c:pt>
                <c:pt idx="5">
                  <c:v>Sobreseguro (suma sobre el valor de ref…</c:v>
                </c:pt>
                <c:pt idx="6">
                  <c:v>Exposición máxima (pérdida total no cub…</c:v>
                </c:pt>
                <c:pt idx="7">
                  <c:v>Siniestros pendientes sin revelación</c:v>
                </c:pt>
                <c:pt idx="8">
                  <c:v>Compensaciones de seguro exigibles a re…</c:v>
                </c:pt>
                <c:pt idx="9">
                  <c:v>Prima pagada por anticipado registrada</c:v>
                </c:pt>
                <c:pt idx="10">
                  <c:v>Prima pagada por anticipado recalculada</c:v>
                </c:pt>
                <c:pt idx="11">
                  <c:v>Diferencia detalle − mayor (prima antic…</c:v>
                </c:pt>
                <c:pt idx="12">
                  <c:v>Ajuste propuesto en resultados (prima a…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1499000.0</c:v>
                </c:pt>
                <c:pt idx="1">
                  <c:v>1050000.0</c:v>
                </c:pt>
                <c:pt idx="2">
                  <c:v>482000.0</c:v>
                </c:pt>
                <c:pt idx="3">
                  <c:v>129000.0</c:v>
                </c:pt>
                <c:pt idx="4">
                  <c:v>212000.0</c:v>
                </c:pt>
                <c:pt idx="5">
                  <c:v>33000.0</c:v>
                </c:pt>
                <c:pt idx="6">
                  <c:v>184052.63</c:v>
                </c:pt>
                <c:pt idx="7">
                  <c:v>18000.0</c:v>
                </c:pt>
                <c:pt idx="8">
                  <c:v>18000.0</c:v>
                </c:pt>
                <c:pt idx="9">
                  <c:v>7800.0</c:v>
                </c:pt>
                <c:pt idx="10">
                  <c:v>6200.0</c:v>
                </c:pt>
                <c:pt idx="11">
                  <c:v>-200.0</c:v>
                </c:pt>
                <c:pt idx="12">
                  <c:v>-1600.0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Infraseguro (×3)</c:v>
                </c:pt>
                <c:pt idx="1">
                  <c:v>Infraseguro poliza</c:v>
                </c:pt>
                <c:pt idx="2">
                  <c:v>Activo sin cobertura (×5)</c:v>
                </c:pt>
                <c:pt idx="3">
                  <c:v>Poliza por vencer</c:v>
                </c:pt>
                <c:pt idx="4">
                  <c:v>Exposicion maxima</c:v>
                </c:pt>
                <c:pt idx="5">
                  <c:v>Poliza no iniciada</c:v>
                </c:pt>
                <c:pt idx="6">
                  <c:v>Poliza vencida</c:v>
                </c:pt>
                <c:pt idx="7">
                  <c:v>Otros (6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270000.0</c:v>
                </c:pt>
                <c:pt idx="1">
                  <c:v>250000.0</c:v>
                </c:pt>
                <c:pt idx="2">
                  <c:v>212000.0</c:v>
                </c:pt>
                <c:pt idx="3">
                  <c:v>200000.0</c:v>
                </c:pt>
                <c:pt idx="4">
                  <c:v>184052.63</c:v>
                </c:pt>
                <c:pt idx="5">
                  <c:v>110000.0</c:v>
                </c:pt>
                <c:pt idx="6">
                  <c:v>42000.0</c:v>
                </c:pt>
                <c:pt idx="7">
                  <c:v>75800.0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Cobertura de seguros de activos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en resultados (prima anticipada):  -1600.00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 Las tasas (%) no se grafican en este eje; están en la tabla.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Valor de referencia de los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1.499.000,00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Suma asegurada vigente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Cobertura global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70,05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Déficit de cobertura (exposición no asegurada)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sin cobertura: valor en libros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129.000,00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sin cobertura: valor de 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Sobreseguro (suma sobre el valor de referencia)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33.000,00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Exposición máxima (pérdida total no cubierta del activo mayor)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184.052,63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Siniestros pendientes sin revelación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Compensaciones de seguro exigibles a reconocer en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Prima pagada por anticipado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Prima pagada por anticipado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6.200,00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detalle − mayor (prima anticipada)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en resultados (prima anticipada)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-1.600,00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Indicadores y conclusión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Indicador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Porcentaje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Cantidad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Valor de referencia de los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1.499.000,00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Suma asegurada vigente al corte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1.050.000,00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% de cobertura global = suma asegurada / 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70,05 %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Déficit de cobertura = Σ max(referencia − suma,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482.000,00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sin cobertura: valor en libros (cantidad a la derecha)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129.000,00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sin cobertura: valor de 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212.000,00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con infraseguro (cantidad)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Sobreseguro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33.000,00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Exposición máxima (pérdida total no cubierta; activo EDIF-01)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184.052,63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Pólizas vencidas al corte (cantidad)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Pólizas por vencer (cantidad)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Siniestros pendientes sin revelación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Compensaciones de seguro exigibles a reconocer en resultados (NIC 16.65–66 · PYMES 17.25)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INFRASEGURO_POLIZA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POL-01: suma asegurada 700.000,00 cubre el 73,68 % del valor de referencia 950.000,00; con la regla proporcional cada siniestro se indemniza al 73,68 %.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PRIMA_MAL_DEVENGADA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POL-02: prima anticipada registrada 2.500,00 ≠ recalculada 900,00 (60 de 365 días por transcurrir) (devengo: NIC 1.27–28; PYMES 2.36).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1.600,00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COMPENSACION_EXIGIBLE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POL-02: la compensación por el daño al activo propio «Choque del camión VEH-02» por 18.000,00 es exigible al corte: reconózcala en resultados (NIC 16.65–66 · PYMES 17.25). Es un hecho separado del deterioro o la baja del activo siniestrado, que se evalúa por su cuenta (NIC 36.12 e); no se compensa con la pérdida.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SINIESTRO_SIN_REVELACION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POL-02: siniestro pendiente «Choque del camión VEH-02» por 18.000,00 sin revelación; evalúe la pérdida y el reembolso (daño al activo propio: NIC 16.65–66 y NIC 36; reclamo de terceros: NIC 37.53 y 86; activo contingente: NIC 37.31–35 y 89; PYMES 17.25 y 21) y la NIA 560 si se resolvió después del corte.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18.000,00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POLIZA_VENCIDA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POL-03 (Equipo electrónico) vencida el 2025-12-15: 2 activo(s) sin cobertura al corte; pida la renovación o el endoso vigente.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42.000,00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POLIZA_POR_VENCER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POL-04: vence en 20 días (2026-01-20); verifique la renovación posterior al corte.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COMPENSACION_ACTIVO_CONTINGENTE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POL-04: la compensación por el daño al activo propio «Daño en compresor» por 5.000,00 no es exigible al corte: no se reconoce; es un activo contingente y se revela solo si la entrada de beneficios es probable (NIC 37.31–35 y 89 · PYMES 21.16). La pérdida o baja del activo sí se contabiliza (NIC 36.12 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POLIZA_NO_INICIADA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Póliza POL-05: su vigencia empieza el 2026-01-15, después del corte; no cubre los activos al corte.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INFRASEGURO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EDIF-01: cobertura 73,68 % (&lt; 80 %); déficit 171.052,63.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171.052,63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INFRASEGURO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BOD-01: cobertura 73,68 % (&lt; 80 %); déficit 78.947,37.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78.947,37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INFRASEGURO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MAQ-02: cobertura 66,67 % (&lt; 80 %); déficit 20.000,00.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SOBRESEGURO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VEH-02: suma asegurada 95.000,00 supera el valor de referencia 70.000,00; la aseguradora no indemniza más del valor real: prima pagada en exceso.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SOBRESEGURO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VEH-03: suma asegurada 20.000,00 supera el valor de referencia 12.000,00; la aseguradora no indemniza más del valor real: prima pagada en exceso.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