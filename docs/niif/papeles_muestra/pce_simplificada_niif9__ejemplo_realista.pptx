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0093A3"/>
            </a:solidFill>
          </c:spPr>
          <c:invertIfNegative val="0"/>
          <c:cat>
            <c:strRef>
              <c:f>Sheet1!$A$2:$A$11</c:f>
              <c:strCache>
                <c:ptCount val="10"/>
                <c:pt idx="0">
                  <c:v>Cartera al corte</c:v>
                </c:pt>
                <c:pt idx="1">
                  <c:v>Pérdida crediticia esperada</c:v>
                </c:pt>
                <c:pt idx="2">
                  <c:v>Provisión registrada (mayor)</c:v>
                </c:pt>
                <c:pt idx="3">
                  <c:v>Ajuste propuesto</c:v>
                </c:pt>
                <c:pt idx="4">
                  <c:v>Dotación neta del ejercicio</c:v>
                </c:pt>
                <c:pt idx="5">
                  <c:v>Castigos del ejercicio</c:v>
                </c:pt>
                <c:pt idx="6">
                  <c:v>Gasto deducible</c:v>
                </c:pt>
                <c:pt idx="7">
                  <c:v>Gasto no deducible</c:v>
                </c:pt>
                <c:pt idx="8">
                  <c:v>Activo por impuesto diferido</c:v>
                </c:pt>
                <c:pt idx="9">
                  <c:v>Movimiento del diferido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167059.86</c:v>
                </c:pt>
                <c:pt idx="1">
                  <c:v>24193.43</c:v>
                </c:pt>
                <c:pt idx="2">
                  <c:v>5816.04</c:v>
                </c:pt>
                <c:pt idx="3">
                  <c:v>18377.39</c:v>
                </c:pt>
                <c:pt idx="4">
                  <c:v>30225.13</c:v>
                </c:pt>
                <c:pt idx="5">
                  <c:v>6031.7</c:v>
                </c:pt>
                <c:pt idx="6">
                  <c:v>903.77</c:v>
                </c:pt>
                <c:pt idx="7">
                  <c:v>29321.36</c:v>
                </c:pt>
                <c:pt idx="8">
                  <c:v>5822.42</c:v>
                </c:pt>
                <c:pt idx="9">
                  <c:v>5822.42</c:v>
                </c:pt>
              </c:numCache>
            </c:numRef>
          </c:val>
        </c:ser>
        <c:dLbls>
          <c:numFmt formatCode="#,##0.00" sourceLinked="0"/>
          <c:txPr>
            <a:bodyPr/>
            <a:lstStyle/>
            <a:p>
              <a:pPr>
                <a:defRPr sz="1000">
                  <a:solidFill>
                    <a:srgbClr val="4B556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txPr>
          <a:bodyPr/>
          <a:lstStyle/>
          <a:p>
            <a:pPr>
              <a:defRPr>
                <a:solidFill>
                  <a:srgbClr val="0A234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0093A3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Tasa cero (×2)</c:v>
                </c:pt>
                <c:pt idx="1">
                  <c:v>En impago</c:v>
                </c:pt>
                <c:pt idx="2">
                  <c:v>No deducible</c:v>
                </c:pt>
                <c:pt idx="3">
                  <c:v>Ajuste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118315.97</c:v>
                </c:pt>
                <c:pt idx="1">
                  <c:v>34399.16</c:v>
                </c:pt>
                <c:pt idx="2">
                  <c:v>29321.36</c:v>
                </c:pt>
                <c:pt idx="3">
                  <c:v>18377.39</c:v>
                </c:pt>
              </c:numCache>
            </c:numRef>
          </c:val>
        </c:ser>
        <c:dLbls>
          <c:numFmt formatCode="#,##0.00" sourceLinked="0"/>
          <c:txPr>
            <a:bodyPr/>
            <a:lstStyle/>
            <a:p>
              <a:pPr>
                <a:defRPr sz="1000">
                  <a:solidFill>
                    <a:srgbClr val="4B556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txPr>
          <a:bodyPr/>
          <a:lstStyle/>
          <a:p>
            <a:pPr>
              <a:defRPr>
                <a:solidFill>
                  <a:srgbClr val="0A234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A2342"/>
                </a:solidFill>
              </a:rPr>
              <a:t>Pérdida crediticia esperada · enfoque simplificado (NIIF 9)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Cliente de muestra S.A. · corte 2025-12-31 · v1 · MUESTRA</a:t>
            </a:r>
          </a:p>
          <a:p>
            <a:r>
              <a:t>AuditConsulting Auditores Cía. Ltda. · AUDIT-IA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A2342"/>
                </a:solidFill>
              </a:rPr>
              <a:t>Cifras clave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2342"/>
                </a:solidFill>
              </a:rPr>
              <a:t>Ajuste propuesto:  18377.39</a:t>
            </a:r>
          </a:p>
          <a:p>
            <a:r>
              <a:rPr sz="2000">
                <a:solidFill>
                  <a:srgbClr val="0A2342"/>
                </a:solidFill>
              </a:rPr>
              <a:t>Problemas encontrados: 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>
                <a:solidFill>
                  <a:srgbClr val="0A2342"/>
                </a:solidFill>
              </a:rPr>
              <a:t>Cifras del resumen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34440"/>
          <a:ext cx="1124712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B5563"/>
                </a:solidFill>
              </a:rPr>
              <a:t>Importes en USD, en el orden de la cédula de resumen. La tabla equivalente es la hoja «Resumen».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>
                <a:solidFill>
                  <a:srgbClr val="0A2342"/>
                </a:solidFill>
              </a:rPr>
              <a:t>Hallazgos de mayor impacto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34440"/>
          <a:ext cx="1124712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B5563"/>
                </a:solidFill>
              </a:rPr>
              <a:t>Importe absoluto sumado por tipo de hallazgo; los 7 mayores y el resto en «Otros». El detalle está en la hoja «Problemas encontrados».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Resumen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Concepto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Importe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Cartera al corte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167.059,86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Pérdida crediticia esperada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24.193,43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Provisión registrada (mayor)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5.816,04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Ajuste propuesto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18.377,39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Dotación neta del ejercicio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30.225,13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Castigos del ejercicio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6.031,70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Gasto deducible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903,77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Gasto no deducible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29.321,36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Activo por impuesto diferido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5.822,42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Movimiento del diferido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5.822,42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Fiscal e impuesto diferido (primeras filas; el detalle completo está en el Excel)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Concepto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Importe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Cartera total al corte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167.059,86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Cartera corriente (créditos del ejercicio)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90.377,19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Pérdida crediticia esperada al cierre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24.193,43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Provisión al inicio del ejercicio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Castigos del ejercicio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6.031,70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Dotación neta del ejercicio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30.225,13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Límite anual (% sobre la cartera corriente)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903,77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Límite acumulado (% sobre la cartera total)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16.705,99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Provisión fiscal acumulada anterior (estimada)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Margen acumulado disponible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16.705,99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Gasto deducible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903,77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Gasto no deducible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29.321,36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Provisión fiscal acumulada al cierre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903,77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Asientos propuestos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Asiento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Cuenta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Debe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Haber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1 · Pérdida crediticia esperada del ejercicio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Gasto por pérdidas crediticias esperadas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30.225,13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(-) Provisión por pérdidas crediticias esperadas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30.225,13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2 · Castigos del ejercicio (5.4.4)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(-) Provisión por pérdidas crediticias esperadas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6.031,70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Cuentas por cobrar comerciales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6.031,70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3 · Activo por impuesto diferido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Activo por impuesto diferido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5.822,42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Ingreso por impuesto a la renta diferido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5.822,42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Problemas encontrados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Código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Descripción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Importe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TASA_CERO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General · Corriente / por vencer: tasa 0 % sobre 90.377,19. La pérdida esperada se estima aunque la posibilidad sea muy baja (5.5.18): documente por qué es cero o fije una tasa.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90.377,19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TASA_CERO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General · 1 a 30 días: tasa 0 % sobre 27.938,78. La pérdida esperada se estima aunque la posibilidad sea muy baja (5.5.18): documente por qué es cero o fije una tasa.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27.938,78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AJUSTE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La pérdida esperada (24.193,43) difiere de la provisión registrada (5.816,04).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18.377,39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EN_IMPAGO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Cartera en impago (más de 90 días, B5.5.37): 34.399,16. Evalúe castigo (5.4.4) o tasa individual.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34.399,16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NO_DEDUCIBLE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Gasto no deducible del ejercicio: 29.321,36 (límites LRTI).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29.321,36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Conclusión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Concepto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Detalle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Conciliación con el mayor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Población None · mayor None · diferencia None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Evaluación de excepciones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Análisis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Conclusión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