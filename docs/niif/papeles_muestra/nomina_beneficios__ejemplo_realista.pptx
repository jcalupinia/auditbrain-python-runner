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0093A3"/>
            </a:solidFill>
          </c:spPr>
          <c:invertIfNegative val="0"/>
          <c:cat>
            <c:strRef>
              <c:f>Sheet1!$A$2:$A$15</c:f>
              <c:strCache>
                <c:ptCount val="14"/>
                <c:pt idx="0">
                  <c:v>Remuneraciones registradas en la nómina</c:v>
                </c:pt>
                <c:pt idx="1">
                  <c:v>Remuneraciones recalculadas</c:v>
                </c:pt>
                <c:pt idx="2">
                  <c:v>Diferencia registrada − recalculada</c:v>
                </c:pt>
                <c:pt idx="3">
                  <c:v>Aporte patronal IESS recalculado</c:v>
                </c:pt>
                <c:pt idx="4">
                  <c:v>Décimo tercero por pagar recalculado</c:v>
                </c:pt>
                <c:pt idx="5">
                  <c:v>Décimo cuarto por pagar recalculado</c:v>
                </c:pt>
                <c:pt idx="6">
                  <c:v>Provisión de vacaciones recalculada</c:v>
                </c:pt>
                <c:pt idx="7">
                  <c:v>Fondo de reserva debido en el ejercicio</c:v>
                </c:pt>
                <c:pt idx="8">
                  <c:v>Obligación post-empleo según informe ac…</c:v>
                </c:pt>
                <c:pt idx="9">
                  <c:v>Provisión post-empleo registrada</c:v>
                </c:pt>
                <c:pt idx="10">
                  <c:v>Gasto post-empleo en resultados</c:v>
                </c:pt>
                <c:pt idx="11">
                  <c:v>Nuevas mediciones en ORI</c:v>
                </c:pt>
                <c:pt idx="12">
                  <c:v>Desahucio legal referencial de los acti…</c:v>
                </c:pt>
                <c:pt idx="13">
                  <c:v>Ajuste propuesto a pasivos laborales (+…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95300.0</c:v>
                </c:pt>
                <c:pt idx="1">
                  <c:v>95500.0</c:v>
                </c:pt>
                <c:pt idx="2">
                  <c:v>-200.0</c:v>
                </c:pt>
                <c:pt idx="3">
                  <c:v>11578.95</c:v>
                </c:pt>
                <c:pt idx="4">
                  <c:v>575.07</c:v>
                </c:pt>
                <c:pt idx="5">
                  <c:v>1762.5</c:v>
                </c:pt>
                <c:pt idx="6">
                  <c:v>6296.0</c:v>
                </c:pt>
                <c:pt idx="7">
                  <c:v>7095.55</c:v>
                </c:pt>
                <c:pt idx="8">
                  <c:v>134500.0</c:v>
                </c:pt>
                <c:pt idx="9">
                  <c:v>127500.0</c:v>
                </c:pt>
                <c:pt idx="10">
                  <c:v>22900.0</c:v>
                </c:pt>
                <c:pt idx="11">
                  <c:v>1700.0</c:v>
                </c:pt>
                <c:pt idx="12">
                  <c:v>18087.71</c:v>
                </c:pt>
                <c:pt idx="13">
                  <c:v>8536.47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000">
                  <a:solidFill>
                    <a:srgbClr val="4B556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>
                <a:solidFill>
                  <a:srgbClr val="0A234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0093A3"/>
            </a:solidFill>
          </c:spPr>
          <c:invertIfNegative val="0"/>
          <c:cat>
            <c:strRef>
              <c:f>Sheet1!$A$2:$A$9</c:f>
              <c:strCache>
                <c:ptCount val="8"/>
                <c:pt idx="0">
                  <c:v>Provision actuarial</c:v>
                </c:pt>
                <c:pt idx="1">
                  <c:v>Nuevas mediciones en resultados</c:v>
                </c:pt>
                <c:pt idx="2">
                  <c:v>Vacaciones diferencia</c:v>
                </c:pt>
                <c:pt idx="3">
                  <c:v>Fondo reserva no pagado (×2)</c:v>
                </c:pt>
                <c:pt idx="4">
                  <c:v>Vacaciones no provisionadas (×2)</c:v>
                </c:pt>
                <c:pt idx="5">
                  <c:v>Dbo rollforward</c:v>
                </c:pt>
                <c:pt idx="6">
                  <c:v>Recalculo nomina</c:v>
                </c:pt>
                <c:pt idx="7">
                  <c:v>Otros (7 tipos)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7000.0</c:v>
                </c:pt>
                <c:pt idx="1">
                  <c:v>3200.0</c:v>
                </c:pt>
                <c:pt idx="2">
                  <c:v>600.0</c:v>
                </c:pt>
                <c:pt idx="3">
                  <c:v>559.83</c:v>
                </c:pt>
                <c:pt idx="4">
                  <c:v>409.66</c:v>
                </c:pt>
                <c:pt idx="5">
                  <c:v>400.0</c:v>
                </c:pt>
                <c:pt idx="6">
                  <c:v>200.0</c:v>
                </c:pt>
                <c:pt idx="7">
                  <c:v>778.69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000">
                  <a:solidFill>
                    <a:srgbClr val="4B556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>
                <a:solidFill>
                  <a:srgbClr val="0A234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A2342"/>
                </a:solidFill>
              </a:rPr>
              <a:t>Beneficios sociales y nómina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Cliente de muestra S.A. · corte 2025-12-31 · v1 · MUESTRA</a:t>
            </a:r>
          </a:p>
          <a:p>
            <a:r>
              <a:t>AuditConsulting Auditores Cía. Ltda. · AUDIT-IA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A2342"/>
                </a:solidFill>
              </a:rPr>
              <a:t>Cifras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2342"/>
                </a:solidFill>
              </a:rPr>
              <a:t>Ajuste propuesto a pasivos laborales (+ aumenta el pasivo):  8536.47</a:t>
            </a:r>
          </a:p>
          <a:p>
            <a:r>
              <a:rPr sz="2000">
                <a:solidFill>
                  <a:srgbClr val="0A2342"/>
                </a:solidFill>
              </a:rPr>
              <a:t>Problemas encontrados: 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0A2342"/>
                </a:solidFill>
              </a:rPr>
              <a:t>Cifras del resumen (14 conceptos de mayor importe; el resto en la tabla)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3444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Importes en USD, en el orden de la cédula de resumen. La tabla equivalente es la hoja «Resumen».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0A2342"/>
                </a:solidFill>
              </a:rPr>
              <a:t>Hallazgos de mayor impacto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3444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Importe absoluto sumado por tipo de hallazgo; los 7 mayores y el resto en «Otros». El detalle está en la hoja «Problemas encontrados».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Resumen (primeras filas; el detalle completo está en el Excel)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Concepto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Importe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Remuneraciones registradas en la nómina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95.300,00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Remuneraciones recalculadas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95.500,00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Diferencia registrada − recalculada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-200,00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Diferencia nómina − mayor (remuneraciones)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Diferencia aporte personal IESS (registrado − recalculado)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-75,23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Aporte patronal IESS recalculado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11.578,95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Décimo tercero por pagar recalculado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575,07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Décimo cuarto por pagar recalculado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1.762,50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Provisión de vacaciones recalculada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6.296,00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Fondo de reserva debido en el ejercicio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7.095,55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Obligación post-empleo según informe actuarial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134.500,00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Provisión post-empleo registrada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127.500,00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Gasto post-empleo en resultados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22.900,00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Problemas encontrados (primeras filas; el detalle completo está en el Excel)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Código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Descripción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Importe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APORTE_IESS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E02 (Bruno Salazar): aporte personal IESS registrado 900,00 ≠ recalculado 975,24 sobre la remuneración registrada (tasas del IESS: 9,45 % personal y 11,15 % patronal, sector privado).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-75,24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DECIMO_CUARTO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E02 (Bruno Salazar): décimo cuarto provisionado 195,83 ≠ recalculado 391,67 (CT art. 113; NIC 19.9, 11 · PYMES 28.3–28.6).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-195,84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VACACIONES_NO_PROVISIONADAS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E02 (Bruno Salazar): saldo de 5.00 días de vacaciones por 143,33 sin provisión (registrada en cero): ausencia remunerada acumulativa (NIC 19.13–16 · PYMES 28.6).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143,33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EMPLEADO_SIN_ESTUDIO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E03 (Carla Mora): activo al corte y fuera del estudio actuarial; la jubilación patronal y el desahucio quedan subestimados (NIC 19.67 · PYMES 28.18).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FONDO_RESERVA_NO_PAGADO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E04 (Diego Ruiz): fondo de reserva pagado 0,00 &lt; debido 499,80 (180 días con derecho desde el 13.º mes; CT art. 196).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499,80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DECIMO_TERCERO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E05 (Elena Vásquez): décimo tercero provisionado 150,00 ≠ recalculado 187,50 (CT art. 111; NIC 19.9, 11 · PYMES 28.3–28.6).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-37,50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RECALCULO_NOMINA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E06 (Fabián Torres): remuneración registrada 8.290,00 ≠ recalculada 8.490,00 (sueldo 700,00 × 360 días ÷ 30 + horas extras + comisiones).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-200,00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HORAS_EXTRAS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E06 (Fabián Torres): horas extras registradas 90,00 ≠ recalculadas 70,00 (valor hora = sueldo ÷ horas del mes, con recargo; CT art. 55).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NETO_NOMINA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E06 (Fabián Torres): neto pagado 7.400,00 ≠ neto recalculado 7.587,70.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-187,69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PLANILLA_IESS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E06 (Fabián Torres): base de las planillas IESS 8.490,00 ≠ remuneración de la nómina 8.290,00.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VACACIONES_NO_PROVISIONADAS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E07 (Gabriela León): saldo de 17.00 días de vacaciones por 266,33 sin provisión (no informada): ausencia remunerada acumulativa (NIC 19.13–16 · PYMES 28.6).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266,33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FONDO_RESERVA_NO_PAGADO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E07 (Gabriela León): fondo de reserva pagado 0,00 &lt; debido 60,03 (46 días con derecho desde el 13.º mes; CT art. 196).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60,03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VACACIONES_DIFERENCIA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E08 (Hugo Cedeño): vacaciones provisionadas 1.800,00 ≠ recalculadas 2.400,00 (48.00 días × 50,00).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-600,00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Conclusión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Concepto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Detalle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Conciliación con el mayor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Población None · mayor None · diferencia None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Evaluación de excepciones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Análisis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Conclusión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