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Sheet1!$A$2:$A$15</c:f>
              <c:strCache>
                <c:ptCount val="14"/>
                <c:pt idx="0">
                  <c:v>Patrimonio según cliente</c:v>
                </c:pt>
                <c:pt idx="1">
                  <c:v>Patrimonio auditado</c:v>
                </c:pt>
                <c:pt idx="2">
                  <c:v>Ajuste neto propuesto al patrimonio</c:v>
                </c:pt>
                <c:pt idx="3">
                  <c:v>Aportes con obligación de devolución (a…</c:v>
                </c:pt>
                <c:pt idx="4">
                  <c:v>Instrumentos con obligación contractual…</c:v>
                </c:pt>
                <c:pt idx="5">
                  <c:v>Dividendos posteriores registrados como…</c:v>
                </c:pt>
                <c:pt idx="6">
                  <c:v>Patrimonio según el mayor</c:v>
                </c:pt>
                <c:pt idx="7">
                  <c:v>Dividendos declarados en el período</c:v>
                </c:pt>
                <c:pt idx="8">
                  <c:v>Utilidades disponibles para dividendos</c:v>
                </c:pt>
                <c:pt idx="9">
                  <c:v>Aumentos de capital no inscritos al cor…</c:v>
                </c:pt>
                <c:pt idx="10">
                  <c:v>Capital según cliente</c:v>
                </c:pt>
                <c:pt idx="11">
                  <c:v>Dividendo mínimo legal (Ley de Compañía…</c:v>
                </c:pt>
                <c:pt idx="12">
                  <c:v>Capital según escritura / Supercias</c:v>
                </c:pt>
                <c:pt idx="13">
                  <c:v>Diferencia capital cliente − escritura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935000.0</c:v>
                </c:pt>
                <c:pt idx="1">
                  <c:v>910000.0</c:v>
                </c:pt>
                <c:pt idx="2">
                  <c:v>-25000.0</c:v>
                </c:pt>
                <c:pt idx="3">
                  <c:v>30000.0</c:v>
                </c:pt>
                <c:pt idx="4">
                  <c:v>45000.0</c:v>
                </c:pt>
                <c:pt idx="5">
                  <c:v>50000.0</c:v>
                </c:pt>
                <c:pt idx="6">
                  <c:v>936200.0</c:v>
                </c:pt>
                <c:pt idx="7">
                  <c:v>90000.0</c:v>
                </c:pt>
                <c:pt idx="8">
                  <c:v>80000.0</c:v>
                </c:pt>
                <c:pt idx="9">
                  <c:v>40000.0</c:v>
                </c:pt>
                <c:pt idx="10">
                  <c:v>500000.0</c:v>
                </c:pt>
                <c:pt idx="11">
                  <c:v>57600.0</c:v>
                </c:pt>
                <c:pt idx="12">
                  <c:v>460000.0</c:v>
                </c:pt>
                <c:pt idx="13">
                  <c:v>40000.0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Dividendo posterior como pasivo</c:v>
                </c:pt>
                <c:pt idx="1">
                  <c:v>Dividendo posterior revelar</c:v>
                </c:pt>
                <c:pt idx="2">
                  <c:v>Instrumento mal clasificado</c:v>
                </c:pt>
                <c:pt idx="3">
                  <c:v>Capital no coincide escritura</c:v>
                </c:pt>
                <c:pt idx="4">
                  <c:v>Aumento no inscrito</c:v>
                </c:pt>
                <c:pt idx="5">
                  <c:v>Sin acta</c:v>
                </c:pt>
                <c:pt idx="6">
                  <c:v>Aporte es pasivo</c:v>
                </c:pt>
                <c:pt idx="7">
                  <c:v>Otros (6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50000.0</c:v>
                </c:pt>
                <c:pt idx="1">
                  <c:v>50000.0</c:v>
                </c:pt>
                <c:pt idx="2">
                  <c:v>45000.0</c:v>
                </c:pt>
                <c:pt idx="3">
                  <c:v>40000.0</c:v>
                </c:pt>
                <c:pt idx="4">
                  <c:v>40000.0</c:v>
                </c:pt>
                <c:pt idx="5">
                  <c:v>40000.0</c:v>
                </c:pt>
                <c:pt idx="6">
                  <c:v>30000.0</c:v>
                </c:pt>
                <c:pt idx="7">
                  <c:v>36000.0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Patrimonio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neto propuesto al patrimonio:  -25000.00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 (14 conceptos de mayor importe; el resto en la tabla)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Patrimonio según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935.000,00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Patrimonio auditado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910.000,00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neto propuesto al patrimonio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-25.000,00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Aportes con obligación de devolución (a pasivo)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Instrumentos con obligación contractual (a pasivo)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Dividendos posteriores registrados como pasivo (revertir)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Diferencias del movimiento recalculado (absolutas)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Patrimonio según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936.200,00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cliente −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-1.200,00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Reserva legal requerida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Reserva legal apropiada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Reserva legal por apropiar (− exceso)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Resultados acumulados por adopción por primera vez de NIIF (no distribuibles)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18.000,00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Asientos propuestos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Asiento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Cuenta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Debe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Haber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1 · Aportes con obligación de devolución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Aportes para futuras capitalizaciones (patrimonio)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Cuentas por pagar a accionistas / socios (pasivo)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2 · Instrumentos con obligación contractual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Capital / acciones preferentes (patrimonio)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45.000,00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Pasivo financiero (acciones rescatables)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3 · Reversión de dividendos posteriores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Dividendos por pagar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Resultados acumulados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4 · Reserva legal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Resultados acumulados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4.800,00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Reserva legal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5 · Resultado de recompras al patrimonio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Otras reservas / acciones propias (patrimonio)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Resultados del ejercicio (pérdida por recompra)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6 · Aumentos de capital no inscritos (pendientes de inscripción)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Capital 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40.000,00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Aportes para futuras capitalizaciones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40.000,00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MOVIMIENTO_NO_CUADRA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306 Otros resultados integrales: inicial 12.000,00 + aumentos 3.500,00 − disminuciones 0,00 = 15.500,00, pero el saldo final informado es 15.000,00 (diferencia -500,00); el estado de cambios en el patrimonio debe conciliar cada componente (NIC 1 106–110).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DIF_MAYOR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308 Resultado del ejercicio: saldo del cliente 142.000,00 vs mayor 143.200,00 (diferencia -1.200,00) (NIA 500).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-1.200,00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RESERVA_LEGAL_NO_APROPIADA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Reserva legal requerida 12.800,00 (10,00 % de la utilidad 128.000,00, hasta el 50,00 % del capital) frente a 8.000,00 apropiada: falta apropiar 4.800,00 (Reserva legal obligatoria: 10 % de las utilidades líquidas hasta por lo menos el 50 % del capital (Ley de Compañías art. 297); compañía Anónima; confirmar que sigue vigente al corte).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TRANSICION_NIIF_NO_DISTRIBUIBLE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Resultados acumulados por adopción por primera vez de NIIF por 18.000,00 separados del resultado disponible para dividendos: no se mezclan automáticamente con la utilidad distribuible. Su disponibilidad queda sujeta a la regulación societaria ecuatoriana aplicable y a la naturaleza y el origen de cada ajuste (revalorizaciones y ajustes que no corresponden a beneficios realmente obtenidos y percibidos no son repartibles: Ley de Compañías arts. 208 y 297; confirmar que sigue vigente al corte y revisar la resolución de la Superintendencia de Compañías sobre el destino de los resultados acumulados por adopción por primera vez de NIIF).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DIVIDENDOS_SOBRE_UTILIDADES_NO_DISPONIBLES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Dividendos declarados en el período 90.000,00 superan las utilidades disponibles 80.000,00 en 10.000,00: Ley de Compañías arts. 208 y 298: solo beneficios realmente obtenidos y percibidos o reservas de libre disposición — evalúe la legalidad y la revelación (NIC 32 35).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DIVIDENDO_POSTERIOR_COMO_PASIVO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JGA-2026-01: dividendo declarado el 2026-02-20 (después del cierre) registrado como pasivo al corte por 50.000,00: no existía obligación al cierre; revertir contra el patrimonio y revelar en notas (NIC 10 12–13; NIC 1 137 a)).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DIVIDENDO_POSTERIOR_REVELAR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Dividendos declarados después del cierre por 50.000,00: revelar el importe y el importe por acción en las notas (NIC 1 137 a)).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CAPITAL_NO_COINCIDE_ESCRITURA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Capital según cliente 500.000,00 vs escritura / Supercias 460.000,00: diferencia 40.000,00 (de ella 40.000,00 por aumentos no inscritos).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APORTE_ES_PASIVO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AP-2025-01: aporte de 30.000,00 con obligación de devolución: es un pasivo financiero, no patrimonio (NIC 32 11, 15–16, 18 a); confirme la resolución vigente de la Superintendencia de Compañías).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RECOMPRA_CON_RESULTADO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JGA-2025-05: la recompra reconoció -1.500,00 en resultados: la contraprestación de acciones propias se reconoce directamente en el patrimonio, sin pérdida ni ganancia (NIC 32 33).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INSTRUMENTO_MAL_CLASIFICADO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JGA-2025-06: instrumento de 45.000,00 con obligación contractual de entregar efectivo (p. ej. acciones preferentes rescatables) presentado en patrimonio: reclasificar a pasivo (NIC 32 11, 15–16, 18 a)).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AUMENTO_NO_INSCRITO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JGA-2025-04: aumento de capital de 40.000,00 sin inscripción en el Registro Mercantil al corte: presentarlo como aporte para futura capitalización hasta la inscripción (Ley de Compañías art. 33: el aumento sigue las solemnidades de la constitución; confirme la inscripción en el Registro Mercantil).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SIN_ACTA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JGA-2025-04: aumento de capital de 40.000,00 sin acta de junta informada: obtenga la resolución que la autoriza (Ley de Compañías; NIA 500).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40.000,00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